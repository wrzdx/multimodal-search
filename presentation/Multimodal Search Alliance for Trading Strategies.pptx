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Introduce the project: a multimodal retrieval system for discovering trading strategies from a large document corpus.
- Emphasize the "Alliance" concept — multiple retrieval systems working together, not competing.
- Preview the tech stack: covers sparse, dense, learning-to-rank, and agentic approaches.
- Context: Deep Learning for Search course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core problem: 205K+ documents is too large for manual review; single-retriever systems each have blind spots.
- The solution: an "alliance" of 4 complementary retrieval systems fused together, then reranked and refined.
- Key value: sub-200ms latency means real-time interactive use is feasible.
- Target users span industry (hedge funds, quant desks) and academia.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the 4-phase pipeline left to right: Recall → Features → Precision → Agentic CRAG.
- Phase 1 uses 4 parallel retrievers (BM25, SPLADE, text dense, curve dense) fused via RRF.
- Phase 2 extracts 6 learning-to-rank features for each of the top-100 candidates.
- Phase 3 is "The Captain" — LambdaMART reranks using those features to optimize NDCG directly.
- Phase 4 adds agentic post-retrieval: user sliders trigger a THOUGHT→ACTION correction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 deep learning models serve different roles: curve encoding, text encoding, and cross-encoding for distillation.
- CurveEncoder is a custom 1D-CNN that turns 252-timestep equity curves into 128-dim L2-normalized vectors.
- TextBiEncoder (Scout) fine-tunes only the projection head on top of frozen all-MiniLM-L6-v2, trained with InfoNCE loss.
- CrossEncoderJudge (Teacher) jointly processes query-doc pairs with augmented metrics for generating Margin-MSE distillation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InfoNCE is the core contrastive loss used to train both CurveEncoder and TextBiEncoder with in-batch negatives
 - Temperature τ=0.07 controls how sharp the similarity distribution is — lower = more discriminative
 - Margin-MSE distills the cross-encoder's ranking knowledge into the bi-encoder, enabling fast inference
 - The student learns relative margins (pos−neg scores) rather than absolute scores, which transfers better
 - AMP and gradient accumulation (batch 64×2=128 effective) make training feasible on consumer GPUs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BM25 and SPLADE form the sparse retrieval backbone — complementary: BM25 catches exact terms, SPLADE learns expanded terms
 - Sentence-Transformers provides dense semantic retrieval via a pre-trained model with a trainable projection head
 - FAISS enables sub-millisecond vector search even on 205K vectors using inner product on L2-normalized embeddings
 - LambdaMART is the "Captain" — it reranks top-100 candidates using 6 heterogeneous features, directly optimizing NDCG
 - Agentic CRAG is the most novel component — post-retrieval user feedback loop that requires zero re-training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Data comes entirely from HuggingFace datasets — 205K docs collected in seconds, no rate limiting issues
 - Three separate indices are built: sparse (BM25 + SPLADE) and dense (FAISS for text + curve embeddings)
 - The Captain (LambdaMART) trains on pseudo-labeled data: 300 queries × 50 candidates with 6 LTR features
 - All 8 retrieval approaches (4 baselines + 4 alliance variants) are benchmarked on the same 200 eval queries
 - Ground truth relevance is established via BM25 weak supervision combined with Sharpe-based nearest neighbors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Full Alliance pipeline (RRF+Captain+CRAG) achieves best NDCG@10 of 0.674
 • RRF fusion alone gives 15–20% lift over best single retriever (DenseText)
 • LambdaMART reranking adds another 8–12% by learning feature weights
 • DenseCurve-only is weakest — curve signals alone are insufficient
 • CRAG adds minimal latency (~6ms) for meaningful precision on constrained queries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GPU only needed during training — inference runs comfortably on CPU
 • Training takes 30–60 min on a consumer GPU (RTX 3060/4060)
 • Full pipeline inference latency is &lt;200ms on CPU — production-ready
 • Optional GPU at inference only speeds up text encoding (~10x faster)
 • Total storage footprint is lightweight at ~2 GB for the entire 205K corpus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key takeaways reinforce the value proposition
 • Multimodal fusion is the core differentiator — no single retriever comes close
 • LambdaMART + CRAG are the precision layer that pushes results further
 • CPU-friendly inference makes this practical for real deployment
 • Open the floor for questions on any component of the pipeline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428625"/>
            <a:ext cx="4286250" cy="4286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28875" y="428625"/>
            <a:ext cx="4286250" cy="4286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274320" y="1398054"/>
            <a:ext cx="8595248" cy="115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8"/>
              </a:lnSpc>
              <a:buNone/>
            </a:pPr>
            <a:r>
              <a:rPr lang="en-US" sz="3825" b="1" spc="-115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Multimodal Search</a:t>
            </a:r>
            <a:endParaRPr lang="en-US" sz="3825" dirty="0"/>
          </a:p>
          <a:p>
            <a:pPr algn="ctr" indent="0" marL="0">
              <a:lnSpc>
                <a:spcPts val="4208"/>
              </a:lnSpc>
              <a:buNone/>
            </a:pPr>
            <a:r>
              <a:rPr lang="en-US" sz="3825" b="1" spc="-115" kern="0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Alliance</a:t>
            </a:r>
            <a:endParaRPr lang="en-US" sz="3825" dirty="0"/>
          </a:p>
        </p:txBody>
      </p:sp>
      <p:sp>
        <p:nvSpPr>
          <p:cNvPr id="6" name="Text 2"/>
          <p:cNvSpPr/>
          <p:nvPr/>
        </p:nvSpPr>
        <p:spPr>
          <a:xfrm>
            <a:off x="2362237" y="2609590"/>
            <a:ext cx="4419526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spc="12" kern="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Multi-Stage Retrieval System for Trading Strategy Discovery</a:t>
            </a:r>
            <a:endParaRPr lang="en-US" sz="1238" dirty="0"/>
          </a:p>
        </p:txBody>
      </p:sp>
      <p:sp>
        <p:nvSpPr>
          <p:cNvPr id="7" name="Text 3"/>
          <p:cNvSpPr/>
          <p:nvPr/>
        </p:nvSpPr>
        <p:spPr>
          <a:xfrm>
            <a:off x="3505795" y="3073933"/>
            <a:ext cx="230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FOR SEARCH — COURSE PROJECT</a:t>
            </a:r>
            <a:endParaRPr lang="en-US" sz="731" dirty="0"/>
          </a:p>
        </p:txBody>
      </p:sp>
      <p:sp>
        <p:nvSpPr>
          <p:cNvPr id="8" name="Text 4"/>
          <p:cNvSpPr/>
          <p:nvPr/>
        </p:nvSpPr>
        <p:spPr>
          <a:xfrm>
            <a:off x="2101937" y="3544778"/>
            <a:ext cx="368126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101937" y="3556136"/>
            <a:ext cx="36812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BM25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527213" y="3544778"/>
            <a:ext cx="459209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516046" y="3556136"/>
            <a:ext cx="48154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SPLADE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043572" y="3544778"/>
            <a:ext cx="641598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985129" y="3556136"/>
            <a:ext cx="7584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BI-ENCODER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742320" y="3544778"/>
            <a:ext cx="778334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742320" y="3556136"/>
            <a:ext cx="7783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CROSS-ENCODER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577804" y="3544778"/>
            <a:ext cx="413668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77804" y="3556136"/>
            <a:ext cx="41366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048622" y="3544778"/>
            <a:ext cx="641598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979988" y="3556136"/>
            <a:ext cx="778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LAMBDAMART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747370" y="3544778"/>
            <a:ext cx="504862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721864" y="3556136"/>
            <a:ext cx="55587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INFONCE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309382" y="3544778"/>
            <a:ext cx="732681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232340" y="3556136"/>
            <a:ext cx="8867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CRAG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36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Value Proposition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00100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the value proposition? Who might need this?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457200" y="1189434"/>
            <a:ext cx="4029075" cy="2281089"/>
          </a:xfrm>
          <a:prstGeom prst="roundRect">
            <a:avLst>
              <a:gd name="adj" fmla="val 4176"/>
            </a:avLst>
          </a:prstGeom>
          <a:solidFill>
            <a:srgbClr val="1E22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193006"/>
            <a:ext cx="4029075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2703" y="1189434"/>
            <a:ext cx="0" cy="2281089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466951"/>
            <a:ext cx="4029075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7916" y="1189434"/>
            <a:ext cx="0" cy="2281089"/>
          </a:xfrm>
          <a:prstGeom prst="line">
            <a:avLst/>
          </a:prstGeom>
          <a:noFill/>
          <a:ln w="21431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0929" y="1403747"/>
            <a:ext cx="55587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139838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D4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78656" y="1614488"/>
            <a:ext cx="3600450" cy="738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Quantitative traders and portfolio managers need to discover relevant trading strategies from a corpus of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205,000+ documents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but single-retriever systems suffer from the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lexical gap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missing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multimodal signals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and lack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feedback integration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16" dirty="0"/>
          </a:p>
        </p:txBody>
      </p:sp>
      <p:sp>
        <p:nvSpPr>
          <p:cNvPr id="12" name="Text 10"/>
          <p:cNvSpPr/>
          <p:nvPr/>
        </p:nvSpPr>
        <p:spPr>
          <a:xfrm>
            <a:off x="4657725" y="1189434"/>
            <a:ext cx="4029075" cy="2281089"/>
          </a:xfrm>
          <a:prstGeom prst="roundRect">
            <a:avLst>
              <a:gd name="adj" fmla="val 4176"/>
            </a:avLst>
          </a:prstGeom>
          <a:solidFill>
            <a:srgbClr val="1E22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57725" y="1193006"/>
            <a:ext cx="4029075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3228" y="1189434"/>
            <a:ext cx="0" cy="2281089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7725" y="3466951"/>
            <a:ext cx="4029075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8441" y="1189434"/>
            <a:ext cx="0" cy="2281089"/>
          </a:xfrm>
          <a:prstGeom prst="line">
            <a:avLst/>
          </a:prstGeom>
          <a:noFill/>
          <a:ln w="21431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9874" y="1403747"/>
            <a:ext cx="63020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79181" y="139838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5B8D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879181" y="1614488"/>
            <a:ext cx="3600450" cy="738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5B8D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4-phase multimodal retrieval alliance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that fuses sparse (BM25, SPLADE) and dense (text Bi-encoder, curve CNN) retrieval via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5B8D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Reciprocal Rank Fusion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reranks with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5B8D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LambdaMART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and applies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5B8D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CRAG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user constraint refinement.</a:t>
            </a:r>
            <a:endParaRPr lang="en-US" sz="816" dirty="0"/>
          </a:p>
        </p:txBody>
      </p:sp>
      <p:sp>
        <p:nvSpPr>
          <p:cNvPr id="20" name="Shape 18"/>
          <p:cNvSpPr/>
          <p:nvPr/>
        </p:nvSpPr>
        <p:spPr>
          <a:xfrm>
            <a:off x="457200" y="3645545"/>
            <a:ext cx="8229600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20567"/>
            <a:ext cx="3391281" cy="323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205K+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457200" y="4171950"/>
            <a:ext cx="29969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68880" y="3820567"/>
            <a:ext cx="4206240" cy="323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3191828" y="4171950"/>
            <a:ext cx="276034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retrieval systems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21808" y="3820567"/>
            <a:ext cx="3364992" cy="323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&lt;200ms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5321808" y="4171950"/>
            <a:ext cx="33649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0" y="4454128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USERS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614863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Hedge funds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 desks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Algo trading platforms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researchers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00050"/>
            <a:ext cx="419649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spc="-32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Architecture: The Alliance Pipeline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377132" y="444056"/>
            <a:ext cx="1006331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99992" y="455414"/>
            <a:ext cx="96061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3622" y="932259"/>
            <a:ext cx="1928813" cy="3807619"/>
          </a:xfrm>
          <a:prstGeom prst="roundRect">
            <a:avLst>
              <a:gd name="adj" fmla="val 4938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0069" y="1078706"/>
            <a:ext cx="200025" cy="200025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0069" y="107870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1531" y="1098352"/>
            <a:ext cx="136445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RECALL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45495" y="1400175"/>
            <a:ext cx="257464" cy="11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BM25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514723" y="1547515"/>
            <a:ext cx="372444" cy="11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SPLADE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527327" y="1694855"/>
            <a:ext cx="505969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Text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526243" y="1842195"/>
            <a:ext cx="554186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Curve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550069" y="2039541"/>
            <a:ext cx="1635919" cy="408980"/>
          </a:xfrm>
          <a:prstGeom prst="roundRect">
            <a:avLst>
              <a:gd name="adj" fmla="val 13974"/>
            </a:avLst>
          </a:prstGeom>
          <a:solidFill>
            <a:srgbClr val="00D4A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0069" y="2039541"/>
            <a:ext cx="1635919" cy="502554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RRF Fusion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(k=60)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Top-100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candidates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36006" y="2736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AA0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2539603" y="932259"/>
            <a:ext cx="1928813" cy="3807619"/>
          </a:xfrm>
          <a:prstGeom prst="roundRect">
            <a:avLst>
              <a:gd name="adj" fmla="val 4938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86050" y="1078706"/>
            <a:ext cx="200025" cy="200025"/>
          </a:xfrm>
          <a:prstGeom prst="ellipse">
            <a:avLst/>
          </a:prstGeom>
          <a:solidFill>
            <a:srgbClr val="5B8D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86050" y="107870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57513" y="1098352"/>
            <a:ext cx="136445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2650714" y="1400175"/>
            <a:ext cx="789920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5B8D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LTR features</a:t>
            </a:r>
            <a:endParaRPr lang="en-US" sz="703" dirty="0"/>
          </a:p>
        </p:txBody>
      </p:sp>
      <p:sp>
        <p:nvSpPr>
          <p:cNvPr id="21" name="Text 19"/>
          <p:cNvSpPr/>
          <p:nvPr/>
        </p:nvSpPr>
        <p:spPr>
          <a:xfrm>
            <a:off x="2655427" y="1618952"/>
            <a:ext cx="521732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bm25_score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2664699" y="1766292"/>
            <a:ext cx="503187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splade_cos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2686050" y="1913632"/>
            <a:ext cx="644681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dense_text_cos</a:t>
            </a:r>
            <a:endParaRPr lang="en-US" sz="619" dirty="0"/>
          </a:p>
        </p:txBody>
      </p:sp>
      <p:sp>
        <p:nvSpPr>
          <p:cNvPr id="24" name="Text 22"/>
          <p:cNvSpPr/>
          <p:nvPr/>
        </p:nvSpPr>
        <p:spPr>
          <a:xfrm>
            <a:off x="2686050" y="2060972"/>
            <a:ext cx="690729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dense_curve_cos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2663615" y="2208312"/>
            <a:ext cx="551405" cy="119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diff_sharpe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2686050" y="2355652"/>
            <a:ext cx="598632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1"/>
              </a:lnSpc>
              <a:buNone/>
            </a:pPr>
            <a:r>
              <a:rPr lang="en-US" sz="619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diff_drawdown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2663190" y="2540196"/>
            <a:ext cx="1681639" cy="287243"/>
          </a:xfrm>
          <a:prstGeom prst="roundRect">
            <a:avLst>
              <a:gd name="adj" fmla="val 19896"/>
            </a:avLst>
          </a:prstGeom>
          <a:solidFill>
            <a:srgbClr val="5B8DE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86050" y="2552998"/>
            <a:ext cx="1635919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Feature extraction (L09)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71988" y="2736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AA0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4675584" y="932259"/>
            <a:ext cx="1928813" cy="3807619"/>
          </a:xfrm>
          <a:prstGeom prst="roundRect">
            <a:avLst>
              <a:gd name="adj" fmla="val 4938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2031" y="1078706"/>
            <a:ext cx="200025" cy="200025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22031" y="107870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93494" y="1098352"/>
            <a:ext cx="136445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PRECISION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4806665" y="1400175"/>
            <a:ext cx="629757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A62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Captain</a:t>
            </a:r>
            <a:endParaRPr lang="en-US" sz="703" dirty="0"/>
          </a:p>
        </p:txBody>
      </p:sp>
      <p:sp>
        <p:nvSpPr>
          <p:cNvPr id="35" name="Text 33"/>
          <p:cNvSpPr/>
          <p:nvPr/>
        </p:nvSpPr>
        <p:spPr>
          <a:xfrm>
            <a:off x="4822031" y="1759148"/>
            <a:ext cx="1635919" cy="408980"/>
          </a:xfrm>
          <a:prstGeom prst="roundRect">
            <a:avLst>
              <a:gd name="adj" fmla="val 13974"/>
            </a:avLst>
          </a:prstGeom>
          <a:solidFill>
            <a:srgbClr val="F5A623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2031" y="1759148"/>
            <a:ext cx="1635919" cy="502554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Directly optimizes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NDCG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using lambda gradients (L08)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07969" y="27360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AA0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8" name="Text 36"/>
          <p:cNvSpPr/>
          <p:nvPr/>
        </p:nvSpPr>
        <p:spPr>
          <a:xfrm>
            <a:off x="6811566" y="932259"/>
            <a:ext cx="1928813" cy="3807619"/>
          </a:xfrm>
          <a:prstGeom prst="roundRect">
            <a:avLst>
              <a:gd name="adj" fmla="val 4938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58013" y="1078706"/>
            <a:ext cx="200025" cy="200025"/>
          </a:xfrm>
          <a:prstGeom prst="ellipse">
            <a:avLst/>
          </a:prstGeom>
          <a:solidFill>
            <a:srgbClr val="EF53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958013" y="107870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29475" y="1098352"/>
            <a:ext cx="136445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CRAG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6958013" y="1759148"/>
            <a:ext cx="1635919" cy="850999"/>
          </a:xfrm>
          <a:prstGeom prst="roundRect">
            <a:avLst>
              <a:gd name="adj" fmla="val 6716"/>
            </a:avLst>
          </a:prstGeom>
          <a:solidFill>
            <a:srgbClr val="EF535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958013" y="1759148"/>
            <a:ext cx="1635919" cy="1045708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Slider feedback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F535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 Sharpe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F535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Max Drawdown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triggers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F535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THOUGHT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F535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</a:t>
            </a:r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loop (L11)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36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Learning Models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3622" y="975122"/>
            <a:ext cx="2678906" cy="3764756"/>
          </a:xfrm>
          <a:prstGeom prst="roundRect">
            <a:avLst>
              <a:gd name="adj" fmla="val 3556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8644" y="1150144"/>
            <a:ext cx="19859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CurveEncoder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2565749" y="1157216"/>
            <a:ext cx="354902" cy="168021"/>
          </a:xfrm>
          <a:prstGeom prst="roundRect">
            <a:avLst>
              <a:gd name="adj" fmla="val 17007"/>
            </a:avLst>
          </a:prstGeom>
          <a:solidFill>
            <a:srgbClr val="5B8DE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12619" y="1166217"/>
            <a:ext cx="4611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1D-CNN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8644" y="1446609"/>
            <a:ext cx="257175" cy="257175"/>
          </a:xfrm>
          <a:prstGeom prst="ellipse">
            <a:avLst/>
          </a:prstGeom>
          <a:solidFill>
            <a:srgbClr val="5B8DE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3647" y="147161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5B8D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578644" y="1803797"/>
            <a:ext cx="2328863" cy="133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Processes equity curve time series into dense embeddings.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8644" y="3166021"/>
            <a:ext cx="2328863" cy="1205954"/>
          </a:xfrm>
          <a:prstGeom prst="roundRect">
            <a:avLst>
              <a:gd name="adj" fmla="val 4739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8644" y="3166021"/>
            <a:ext cx="2328863" cy="1178522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>
            <a:norm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equity curve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(252 timesteps)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Conv1d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(1→64, k=5) + BN + ReLU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Conv1d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(64→128, k=5) + BN + ReLU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Global Avg Pool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Linear(128→128)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L2-normalize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128-dim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embedding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8644" y="4371975"/>
            <a:ext cx="2328863" cy="192881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CURVE → VECTOR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32547" y="975122"/>
            <a:ext cx="2678906" cy="3764756"/>
          </a:xfrm>
          <a:prstGeom prst="roundRect">
            <a:avLst>
              <a:gd name="adj" fmla="val 3556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07569" y="1150144"/>
            <a:ext cx="18430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TextBiEncoder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246084" y="1157216"/>
            <a:ext cx="509207" cy="168021"/>
          </a:xfrm>
          <a:prstGeom prst="roundRect">
            <a:avLst>
              <a:gd name="adj" fmla="val 17007"/>
            </a:avLst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65804" y="1166217"/>
            <a:ext cx="6697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Scout, L06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7569" y="1446609"/>
            <a:ext cx="257175" cy="257175"/>
          </a:xfrm>
          <a:prstGeom prst="ellipse">
            <a:avLst/>
          </a:prstGeom>
          <a:solidFill>
            <a:srgbClr val="00D4A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32572" y="147161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D4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3407569" y="1803797"/>
            <a:ext cx="2328863" cy="89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Encodes strategy text descriptions into searchable vectors.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07569" y="2722662"/>
            <a:ext cx="2328863" cy="1649313"/>
          </a:xfrm>
          <a:prstGeom prst="roundRect">
            <a:avLst>
              <a:gd name="adj" fmla="val 3465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07569" y="2722662"/>
            <a:ext cx="2328863" cy="1621881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>
            <a:norm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Base: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all-MiniLM-L6-v2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(384-dim)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 transformer +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trainable projection head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(Linear→ReLU→Linear→128-dim)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Trained with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InfoNCE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contrastive loss (L06/L08)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Encodes query &amp; doc independently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IndexFlatIP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07569" y="4371975"/>
            <a:ext cx="2328863" cy="192881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→ VECTOR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1472" y="975122"/>
            <a:ext cx="2678906" cy="3764756"/>
          </a:xfrm>
          <a:prstGeom prst="roundRect">
            <a:avLst>
              <a:gd name="adj" fmla="val 3556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36494" y="1150144"/>
            <a:ext cx="177165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CrossEncoderJudge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8000714" y="1157216"/>
            <a:ext cx="586359" cy="168021"/>
          </a:xfrm>
          <a:prstGeom prst="roundRect">
            <a:avLst>
              <a:gd name="adj" fmla="val 17007"/>
            </a:avLst>
          </a:prstGeom>
          <a:solidFill>
            <a:srgbClr val="F5A62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96668" y="1166217"/>
            <a:ext cx="79445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Teacher, L07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36494" y="1446609"/>
            <a:ext cx="257175" cy="257175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61497" y="147161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A62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6236494" y="1803797"/>
            <a:ext cx="2328863" cy="59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Jointly scores (query, doc) pairs with metrics augmentation for distillation labels.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36494" y="2427089"/>
            <a:ext cx="2328863" cy="1944886"/>
          </a:xfrm>
          <a:prstGeom prst="roundRect">
            <a:avLst>
              <a:gd name="adj" fmla="val 2938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36494" y="2427089"/>
            <a:ext cx="2328863" cy="1917454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>
            <a:normAutofit/>
          </a:bodyPr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ms-marco-MiniLM-L-6-v2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Jointly processes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(query, doc) pairs with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augmentation: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[CLS] query [SEP]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text.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Metrics: Sharpe 1.5,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Drawdown -10%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[SEP]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for </a:t>
            </a:r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Margin-MSE</a:t>
            </a:r>
            <a:endParaRPr lang="en-US" sz="800" dirty="0"/>
          </a:p>
          <a:p>
            <a:pPr algn="l" indent="0" marL="0">
              <a:lnSpc>
                <a:spcPts val="116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distillation labels (L08)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36494" y="4371975"/>
            <a:ext cx="2328863" cy="192881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 → SCORE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1006331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96061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PIPELINE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32234"/>
            <a:ext cx="863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Pipeline: 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InfoNCE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Margin-MSE</a:t>
            </a:r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Distillation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0772" y="1193006"/>
            <a:ext cx="1964531" cy="672182"/>
          </a:xfrm>
          <a:prstGeom prst="roundRect">
            <a:avLst>
              <a:gd name="adj" fmla="val 14170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325166"/>
            <a:ext cx="1728788" cy="241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78644" y="1593726"/>
            <a:ext cx="17287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epochs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46747" y="1193006"/>
            <a:ext cx="1964531" cy="672182"/>
          </a:xfrm>
          <a:prstGeom prst="roundRect">
            <a:avLst>
              <a:gd name="adj" fmla="val 14170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4619" y="1325166"/>
            <a:ext cx="1728788" cy="241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9,624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2664619" y="1593726"/>
            <a:ext cx="17287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steps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193006"/>
            <a:ext cx="1964531" cy="672182"/>
          </a:xfrm>
          <a:prstGeom prst="roundRect">
            <a:avLst>
              <a:gd name="adj" fmla="val 14170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50594" y="1325166"/>
            <a:ext cx="1728788" cy="241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 × 2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4750594" y="1593726"/>
            <a:ext cx="17287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× accum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18697" y="1193006"/>
            <a:ext cx="1964531" cy="672182"/>
          </a:xfrm>
          <a:prstGeom prst="roundRect">
            <a:avLst>
              <a:gd name="adj" fmla="val 14170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36569" y="1325166"/>
            <a:ext cx="1728788" cy="241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2e-3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6836569" y="1593726"/>
            <a:ext cx="17287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LR + warmup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040210"/>
            <a:ext cx="4029075" cy="1879141"/>
          </a:xfrm>
          <a:prstGeom prst="roundRect">
            <a:avLst>
              <a:gd name="adj" fmla="val 5069"/>
            </a:avLst>
          </a:prstGeom>
          <a:solidFill>
            <a:srgbClr val="1E22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2043782"/>
            <a:ext cx="4029075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2703" y="2040210"/>
            <a:ext cx="0" cy="1879141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15780"/>
            <a:ext cx="4029075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916" y="2040210"/>
            <a:ext cx="0" cy="1879141"/>
          </a:xfrm>
          <a:prstGeom prst="line">
            <a:avLst/>
          </a:prstGeom>
          <a:noFill/>
          <a:ln w="21431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081" y="22366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D4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878681" y="2218804"/>
            <a:ext cx="342900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InfoNCE Loss (L06/L08)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650081" y="2511698"/>
            <a:ext cx="3657600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Contrastive loss for both 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CurveEncoder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TextBiEncoder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653653" y="2777803"/>
            <a:ext cx="3650456" cy="327161"/>
          </a:xfrm>
          <a:prstGeom prst="roundRect">
            <a:avLst>
              <a:gd name="adj" fmla="val 17468"/>
            </a:avLst>
          </a:prstGeom>
          <a:solidFill>
            <a:srgbClr val="00D4AA">
              <a:alpha val="5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7238" y="2867099"/>
            <a:ext cx="3443288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-log(exp(sim(q,k⁺)/τ) / Σ</a:t>
            </a:r>
            <a:pPr algn="l" indent="0" marL="0">
              <a:lnSpc>
                <a:spcPts val="1170"/>
              </a:lnSpc>
              <a:buNone/>
            </a:pPr>
            <a:r>
              <a:rPr lang="en-US" sz="800" baseline="-40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exp(sim(q,k</a:t>
            </a:r>
            <a:pPr algn="l" indent="0" marL="0">
              <a:lnSpc>
                <a:spcPts val="1170"/>
              </a:lnSpc>
              <a:buNone/>
            </a:pPr>
            <a:r>
              <a:rPr lang="en-US" sz="800" baseline="-40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)/τ))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0081" y="3194261"/>
            <a:ext cx="3657600" cy="579287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algn="l" marL="64294" indent="-64294">
              <a:lnSpc>
                <a:spcPts val="1434"/>
              </a:lnSpc>
              <a:buSzPct val="100000"/>
              <a:buChar char="•"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Temperature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τ = 0.07</a:t>
            </a:r>
            <a:endParaRPr lang="en-US" sz="844" dirty="0"/>
          </a:p>
          <a:p>
            <a:pPr algn="l" marL="64294" indent="-64294">
              <a:lnSpc>
                <a:spcPts val="1434"/>
              </a:lnSpc>
              <a:buSzPct val="100000"/>
              <a:buChar char="•"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In-batch negatives: all other items in batch serve as negatives</a:t>
            </a:r>
            <a:endParaRPr lang="en-US" sz="844" dirty="0"/>
          </a:p>
          <a:p>
            <a:pPr algn="l" marL="64294" indent="-64294">
              <a:lnSpc>
                <a:spcPts val="1434"/>
              </a:lnSpc>
              <a:buSzPct val="100000"/>
              <a:buChar char="•"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Optimizes embedding space so similar strategies cluster together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657725" y="2040210"/>
            <a:ext cx="4029075" cy="1879141"/>
          </a:xfrm>
          <a:prstGeom prst="roundRect">
            <a:avLst>
              <a:gd name="adj" fmla="val 5069"/>
            </a:avLst>
          </a:prstGeom>
          <a:solidFill>
            <a:srgbClr val="1E22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7725" y="2043782"/>
            <a:ext cx="4029075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3228" y="2040210"/>
            <a:ext cx="0" cy="1879141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57725" y="3915780"/>
            <a:ext cx="4029075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8441" y="2040210"/>
            <a:ext cx="0" cy="1879141"/>
          </a:xfrm>
          <a:prstGeom prst="line">
            <a:avLst/>
          </a:prstGeom>
          <a:noFill/>
          <a:ln w="21431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0606" y="22366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5B8D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5079206" y="2218804"/>
            <a:ext cx="342900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Margin-MSE Distillation (L08)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4850606" y="2511698"/>
            <a:ext cx="3657600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distillation from 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5B8D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Cross-encoder (Teacher)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5B8D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Bi-encoder (Student)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4854178" y="2777803"/>
            <a:ext cx="3650456" cy="327161"/>
          </a:xfrm>
          <a:prstGeom prst="roundRect">
            <a:avLst>
              <a:gd name="adj" fmla="val 17468"/>
            </a:avLst>
          </a:prstGeom>
          <a:solidFill>
            <a:srgbClr val="5B8DEF">
              <a:alpha val="5000"/>
            </a:srgbClr>
          </a:solidFill>
          <a:ln w="7144">
            <a:solidFill>
              <a:srgbClr val="5B8D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7763" y="2867099"/>
            <a:ext cx="3443288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MSE((s</a:t>
            </a:r>
            <a:pPr algn="l" indent="0" marL="0">
              <a:lnSpc>
                <a:spcPts val="1170"/>
              </a:lnSpc>
              <a:buNone/>
            </a:pPr>
            <a:r>
              <a:rPr lang="en-US" sz="800" baseline="-400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s</a:t>
            </a:r>
            <a:pPr algn="l" indent="0" marL="0">
              <a:lnSpc>
                <a:spcPts val="1170"/>
              </a:lnSpc>
              <a:buNone/>
            </a:pPr>
            <a:r>
              <a:rPr lang="en-US" sz="800" baseline="-400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170"/>
              </a:lnSpc>
              <a:buNone/>
            </a:pPr>
            <a:r>
              <a:rPr lang="en-US" sz="800" baseline="-400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(t</a:t>
            </a:r>
            <a:pPr algn="l" indent="0" marL="0">
              <a:lnSpc>
                <a:spcPts val="1170"/>
              </a:lnSpc>
              <a:buNone/>
            </a:pPr>
            <a:r>
              <a:rPr lang="en-US" sz="800" baseline="-400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t</a:t>
            </a:r>
            <a:pPr algn="l" indent="0" marL="0">
              <a:lnSpc>
                <a:spcPts val="1170"/>
              </a:lnSpc>
              <a:buNone/>
            </a:pPr>
            <a:r>
              <a:rPr lang="en-US" sz="800" baseline="-400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170"/>
              </a:lnSpc>
              <a:buNone/>
            </a:pPr>
            <a:r>
              <a:rPr lang="en-US" sz="800" baseline="-400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50606" y="3194261"/>
            <a:ext cx="3657600" cy="579287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algn="l" marL="64294" indent="-64294">
              <a:lnSpc>
                <a:spcPts val="1434"/>
              </a:lnSpc>
              <a:buSzPct val="100000"/>
              <a:buChar char="•"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Teacher scores (query, positive) and (query, negative) pairs</a:t>
            </a:r>
            <a:endParaRPr lang="en-US" sz="844" dirty="0"/>
          </a:p>
          <a:p>
            <a:pPr algn="l" marL="64294" indent="-64294">
              <a:lnSpc>
                <a:spcPts val="1434"/>
              </a:lnSpc>
              <a:buSzPct val="100000"/>
              <a:buChar char="•"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learns to reproduce teacher ranking margins</a:t>
            </a:r>
            <a:endParaRPr lang="en-US" sz="844" dirty="0"/>
          </a:p>
          <a:p>
            <a:pPr algn="l" marL="64294" indent="-64294">
              <a:lnSpc>
                <a:spcPts val="1434"/>
              </a:lnSpc>
              <a:buSzPct val="100000"/>
              <a:buChar char="•"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Enables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B8D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100x faster inference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than cross-encoder alone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460772" y="4065798"/>
            <a:ext cx="8222456" cy="357188"/>
          </a:xfrm>
          <a:prstGeom prst="roundRect">
            <a:avLst>
              <a:gd name="adj" fmla="val 21333"/>
            </a:avLst>
          </a:prstGeom>
          <a:solidFill>
            <a:srgbClr val="181B24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2931" y="417652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A62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41" name="Text 39"/>
          <p:cNvSpPr/>
          <p:nvPr/>
        </p:nvSpPr>
        <p:spPr>
          <a:xfrm>
            <a:off x="821531" y="4169383"/>
            <a:ext cx="77295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AMP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(Automatic Mixed Precision) on GPU for 1.5–2x speedup. Hard negatives via vectorized metric-based sampling (O(n) vs O(n²) BM25).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31541"/>
            <a:ext cx="960790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42900"/>
            <a:ext cx="9150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6509"/>
            <a:ext cx="8636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Technologies &amp; Justification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0772" y="1135856"/>
            <a:ext cx="8222456" cy="2947355"/>
          </a:xfrm>
          <a:prstGeom prst="roundRect">
            <a:avLst>
              <a:gd name="adj" fmla="val 3232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4" y="1139428"/>
          <a:ext cx="8215313" cy="914400"/>
        </p:xfrm>
        <a:graphic>
          <a:graphicData uri="http://schemas.openxmlformats.org/drawingml/2006/table">
            <a:tbl>
              <a:tblPr/>
              <a:tblGrid>
                <a:gridCol w="1807369"/>
                <a:gridCol w="1807369"/>
                <a:gridCol w="46005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Technology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Justification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BM25 rank_bm25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Sparse lexical retrieval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Classic inverted index with TF-IDF scoring. Handles exact keyword matches that dense models miss. Zero training cost.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SPLADE nreimers/splade-cocondenser-ense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Learned sparse retrieval (L05)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Learned sparse representations via log(1+ReLU(logit)). Bridges lexical gap — expands query terms the model learned are relevant. Complementary to BM25.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Sentence-Transformers all-MiniLM-L6-v2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Dense text Bi-encoder (L06)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384-dim embeddings, fine-tuned on 1B+ sentence pairs. Captures semantic similarity beyond keyword match. Pre-trained — only projection head trained.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FAISS IndexFlatIP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ANN vector search (L02/L05)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Facebook's library for efficient similarity search. Inner product = cosine similarity on L2-normalized vectors. Sub-millisecond search on 205K vectors.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LightGBM LambdaMART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Learning-to-Rank reranker (L08)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Gradient-boosted trees directly optimizing NDCG via lambda gradients. Handles heterogeneous features. 100 trees, fast inference (&lt;1ms).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Agentic CRAG L11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User feedback integration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Post-retrieval correction: THOUGHT → ACTION loop. Penalizes candidates violating user constraints (Sharpe, Drawdown sliders). No re-training needed.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00013" marT="100013" marB="78581" anchor="t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D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286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D4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628650" y="4201083"/>
            <a:ext cx="8058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technology maps to a specific lecture reference (L02–L11) from the Deep Learning for Search course.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31541"/>
            <a:ext cx="960790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42900"/>
            <a:ext cx="9150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 SETUP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6509"/>
            <a:ext cx="8636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Experimental Pipeline &amp; Evaluation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46572"/>
            <a:ext cx="200025" cy="200025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146572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7238" y="1160859"/>
            <a:ext cx="4743523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Collection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7238" y="1319361"/>
            <a:ext cx="4517641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205,292 real text documents from HuggingFace datasets (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ag_news, squad, twitter-financial-news-sentiment, yelp_review_full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mapped to trading strategy domain with synthetic metrics and GBM-simulated equity curves.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0069" y="1696194"/>
            <a:ext cx="14288" cy="71438"/>
          </a:xfrm>
          <a:prstGeom prst="rect">
            <a:avLst/>
          </a:prstGeom>
          <a:solidFill>
            <a:srgbClr val="2D31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796207"/>
            <a:ext cx="200025" cy="200025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796207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57238" y="1810494"/>
            <a:ext cx="4743523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Index Building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7238" y="1968996"/>
            <a:ext cx="4517641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BM25 inverted index, FAISS dense indices (text + curve), SPLADE sparse matrix.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0069" y="2207419"/>
            <a:ext cx="14288" cy="71438"/>
          </a:xfrm>
          <a:prstGeom prst="rect">
            <a:avLst/>
          </a:prstGeom>
          <a:solidFill>
            <a:srgbClr val="2D31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2307431"/>
            <a:ext cx="200025" cy="200025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2307431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7238" y="2321719"/>
            <a:ext cx="5782580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7238" y="2480221"/>
            <a:ext cx="4517641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epochs of InfoNCE + Margin-MSE on 205K docs.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CurveEncoder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(1D-CNN) and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TextBiEncoder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projection head trained.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0069" y="2857054"/>
            <a:ext cx="14288" cy="71438"/>
          </a:xfrm>
          <a:prstGeom prst="rect">
            <a:avLst/>
          </a:prstGeom>
          <a:solidFill>
            <a:srgbClr val="2D31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2957066"/>
            <a:ext cx="200025" cy="200025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2957066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7238" y="2971354"/>
            <a:ext cx="4743523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Captain Training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57238" y="3129855"/>
            <a:ext cx="4517641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LambdaMART on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pseudo-labeled queries ×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candidates with 6 LTR features.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0069" y="3368278"/>
            <a:ext cx="14288" cy="71438"/>
          </a:xfrm>
          <a:prstGeom prst="rect">
            <a:avLst/>
          </a:prstGeom>
          <a:solidFill>
            <a:srgbClr val="2D31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3468291"/>
            <a:ext cx="200025" cy="200025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7200" y="3468291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7238" y="3482578"/>
            <a:ext cx="4743523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Comparative Evaluation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7238" y="3641080"/>
            <a:ext cx="4517641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retrieval approaches benchmarked on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evaluation queries.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74903" y="1146572"/>
            <a:ext cx="3211897" cy="1605558"/>
          </a:xfrm>
          <a:prstGeom prst="roundRect">
            <a:avLst>
              <a:gd name="adj" fmla="val 5933"/>
            </a:avLst>
          </a:prstGeom>
          <a:solidFill>
            <a:srgbClr val="1E22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74903" y="1150144"/>
            <a:ext cx="3211897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3228" y="1146572"/>
            <a:ext cx="0" cy="1605558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74903" y="2748558"/>
            <a:ext cx="3211897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5619" y="1146572"/>
            <a:ext cx="0" cy="1605558"/>
          </a:xfrm>
          <a:prstGeom prst="line">
            <a:avLst/>
          </a:prstGeom>
          <a:noFill/>
          <a:ln w="21431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7784" y="13573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D4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853522" y="1325166"/>
            <a:ext cx="265468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Metrics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5667784" y="1660922"/>
            <a:ext cx="35719" cy="35719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74941" y="1618059"/>
            <a:ext cx="2733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NDCG@5, NDCG@10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ranking quality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(L01)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7784" y="1866305"/>
            <a:ext cx="35719" cy="35719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74941" y="1823442"/>
            <a:ext cx="2733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MRR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first relevant document position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7784" y="2071688"/>
            <a:ext cx="35719" cy="35719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74941" y="2028825"/>
            <a:ext cx="2733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Recall@10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fraction of relevant docs found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7784" y="2277070"/>
            <a:ext cx="35719" cy="35719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74941" y="2234208"/>
            <a:ext cx="2733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Precision@5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fraction of top-5 that are relevant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7784" y="2482453"/>
            <a:ext cx="35719" cy="35719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774941" y="2439591"/>
            <a:ext cx="2733266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Avg / P95 / P99 Latency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query timing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78475" y="2870002"/>
            <a:ext cx="3204753" cy="857250"/>
          </a:xfrm>
          <a:prstGeom prst="roundRect">
            <a:avLst>
              <a:gd name="adj" fmla="val 11111"/>
            </a:avLst>
          </a:prstGeom>
          <a:solidFill>
            <a:srgbClr val="181B24"/>
          </a:solidFill>
          <a:ln w="7144">
            <a:solidFill>
              <a:srgbClr val="5B8D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653497" y="30557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8D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8" name="Text 46"/>
          <p:cNvSpPr/>
          <p:nvPr/>
        </p:nvSpPr>
        <p:spPr>
          <a:xfrm>
            <a:off x="5839234" y="3045023"/>
            <a:ext cx="26689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Protocol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3497" y="3266480"/>
            <a:ext cx="28547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200 queries with ground-truth relevance via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BM25 weak supervision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Sharpe-based nearest neighbors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1006331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96061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32234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Comparative Study: 8 Approaches Benchmarking</a:t>
            </a:r>
            <a:endParaRPr lang="en-US" sz="157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095"/>
          <a:ext cx="8229600" cy="914400"/>
        </p:xfrm>
        <a:graphic>
          <a:graphicData uri="http://schemas.openxmlformats.org/drawingml/2006/table">
            <a:tbl>
              <a:tblPr/>
              <a:tblGrid>
                <a:gridCol w="2633365"/>
                <a:gridCol w="951905"/>
                <a:gridCol w="1052922"/>
                <a:gridCol w="725202"/>
                <a:gridCol w="1186979"/>
                <a:gridCol w="725202"/>
                <a:gridCol w="9540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Approach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NDCG@5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NDCG@10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MRR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Recall@10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P@5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Latency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♛Iter2_RRF+Captain+CRAG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D4A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0.612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D4A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0.674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D4A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0.713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D4A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0.682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D4A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0.574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Iter2_RRF+Captain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0.563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0.621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0.661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0.634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0.518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Iter2_RRF_All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0.501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0.558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0.594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0.571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0.462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Iter1_BM25+DenseText_RRF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0.458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0.517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0.549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0.533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0.421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Iter1_DenseText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0.398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0.461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0.492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0.471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0.363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Iter1_BM25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0.327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0.384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0.413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0.392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0.291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Iter1_SPLADE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0.354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0.412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0.438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0.418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0.313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Iter1_DenseCurve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0.241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0.293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0.327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0.269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0.198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0772" y="3258220"/>
            <a:ext cx="8222456" cy="737146"/>
          </a:xfrm>
          <a:prstGeom prst="roundRect">
            <a:avLst>
              <a:gd name="adj" fmla="val 10337"/>
            </a:avLst>
          </a:prstGeom>
          <a:solidFill>
            <a:srgbClr val="00D4AA">
              <a:alpha val="4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7219" y="338323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D4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8" name="Text 5"/>
          <p:cNvSpPr/>
          <p:nvPr/>
        </p:nvSpPr>
        <p:spPr>
          <a:xfrm>
            <a:off x="821531" y="3376092"/>
            <a:ext cx="7715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1531" y="3568973"/>
            <a:ext cx="771525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full Alliance (RRF + Captain + CRAG) consistently outperforms all individual systems. RRF fusion alone improves NDCG@10 by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15–20%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over best single system. The Captain (LambdaMART) adds another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8–12%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by learning optimal feature weights. Agentic CRAG provides additional precision for constrained queries.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869595" cy="212027"/>
          </a:xfrm>
          <a:prstGeom prst="roundRect">
            <a:avLst>
              <a:gd name="adj" fmla="val 17969"/>
            </a:avLst>
          </a:prstGeom>
          <a:solidFill>
            <a:srgbClr val="00D4AA">
              <a:alpha val="8000"/>
            </a:srgbClr>
          </a:solidFill>
          <a:ln w="7144">
            <a:solidFill>
              <a:srgbClr val="00D4A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23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03659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 Requirements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457200" y="1086520"/>
            <a:ext cx="4043363" cy="1605558"/>
          </a:xfrm>
          <a:prstGeom prst="roundRect">
            <a:avLst>
              <a:gd name="adj" fmla="val 5933"/>
            </a:avLst>
          </a:prstGeom>
          <a:solidFill>
            <a:srgbClr val="1E22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90092"/>
            <a:ext cx="4043363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6991" y="1086520"/>
            <a:ext cx="0" cy="1605558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88506"/>
            <a:ext cx="4043363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916" y="1086520"/>
            <a:ext cx="0" cy="1605558"/>
          </a:xfrm>
          <a:prstGeom prst="line">
            <a:avLst/>
          </a:prstGeom>
          <a:noFill/>
          <a:ln w="21431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794" y="12454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D4A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835819" y="1236538"/>
            <a:ext cx="35004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D4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DEVELOPMENT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635794" y="1511573"/>
            <a:ext cx="1185148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43038" y="1497285"/>
            <a:ext cx="2893219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CUDA 12.1+ (RTX 3060/4060, 6–8 GB VRAM)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5794" y="1708472"/>
            <a:ext cx="1185148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43038" y="1694185"/>
            <a:ext cx="2893219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16–32 GB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794" y="1905372"/>
            <a:ext cx="960120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43038" y="1891085"/>
            <a:ext cx="2893219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~2 GB (parquet + indices + embeddings)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5794" y="2102272"/>
            <a:ext cx="879110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43038" y="2087984"/>
            <a:ext cx="2893219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~30–60 min for 3 epochs on GPU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794" y="2299171"/>
            <a:ext cx="879110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Bottleneck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43038" y="2284884"/>
            <a:ext cx="2893219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F5A62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Cross-encoder teacher inference during Margin-MSE (GPU-only)</a:t>
            </a:r>
            <a:endParaRPr lang="en-US" sz="759" dirty="0"/>
          </a:p>
        </p:txBody>
      </p:sp>
      <p:sp>
        <p:nvSpPr>
          <p:cNvPr id="22" name="Text 20"/>
          <p:cNvSpPr/>
          <p:nvPr/>
        </p:nvSpPr>
        <p:spPr>
          <a:xfrm>
            <a:off x="4643438" y="1086520"/>
            <a:ext cx="4043363" cy="1605558"/>
          </a:xfrm>
          <a:prstGeom prst="roundRect">
            <a:avLst>
              <a:gd name="adj" fmla="val 5933"/>
            </a:avLst>
          </a:prstGeom>
          <a:solidFill>
            <a:srgbClr val="1E22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43438" y="1090092"/>
            <a:ext cx="4043363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3228" y="1086520"/>
            <a:ext cx="0" cy="1605558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3438" y="2688506"/>
            <a:ext cx="4043363" cy="0"/>
          </a:xfrm>
          <a:prstGeom prst="line">
            <a:avLst/>
          </a:prstGeom>
          <a:noFill/>
          <a:ln w="7144">
            <a:solidFill>
              <a:srgbClr val="2D31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4153" y="1086520"/>
            <a:ext cx="0" cy="1605558"/>
          </a:xfrm>
          <a:prstGeom prst="line">
            <a:avLst/>
          </a:prstGeom>
          <a:noFill/>
          <a:ln w="21431">
            <a:solidFill>
              <a:srgbClr val="5B8D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2031" y="12454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5B8D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5022056" y="1236538"/>
            <a:ext cx="35004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B8D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4822031" y="1497285"/>
            <a:ext cx="370046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 (ACCEPTABLE)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22031" y="1683023"/>
            <a:ext cx="960120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 / RAM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29275" y="1668735"/>
            <a:ext cx="2893219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8+ cores / 4–8 GB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22031" y="1858491"/>
            <a:ext cx="960120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29275" y="1844204"/>
            <a:ext cx="2893219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5B8D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&lt;200ms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full pipeline on CPU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2031" y="2055391"/>
            <a:ext cx="370046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 (OPTIONAL)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22031" y="2241128"/>
            <a:ext cx="960120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Speedup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9275" y="2226841"/>
            <a:ext cx="2893219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 encoding: ~50ms → ~5ms per query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2031" y="2416597"/>
            <a:ext cx="1185148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FAISS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29275" y="2402309"/>
            <a:ext cx="289321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Sub-millisecond on CPU for 205K vectors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0772" y="2824237"/>
            <a:ext cx="8222456" cy="1639491"/>
          </a:xfrm>
          <a:prstGeom prst="roundRect">
            <a:avLst>
              <a:gd name="adj" fmla="val 5810"/>
            </a:avLst>
          </a:prstGeom>
          <a:solidFill>
            <a:srgbClr val="1E222D"/>
          </a:solidFill>
          <a:ln w="7144">
            <a:solidFill>
              <a:srgbClr val="2D314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2931" y="2927821"/>
            <a:ext cx="7958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 COMPARISON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2931" y="3127846"/>
          <a:ext cx="7958138" cy="914400"/>
        </p:xfrm>
        <a:graphic>
          <a:graphicData uri="http://schemas.openxmlformats.org/drawingml/2006/table">
            <a:tbl>
              <a:tblPr/>
              <a:tblGrid>
                <a:gridCol w="2228180"/>
                <a:gridCol w="2864867"/>
                <a:gridCol w="286509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Component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Development (GPU)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Inference (CPU)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BM25 search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Dense encoding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A6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GPU required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~50ms / batch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FAISS search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Sub-ms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Sub-ms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LambdaMART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&lt;1ms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&lt;1ms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CRAG filter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&lt;1ms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8E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&lt;1ms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0303" y="1107616"/>
            <a:ext cx="2663281" cy="54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spc="-72" kern="0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19723" y="1724769"/>
            <a:ext cx="130444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Questions?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4000500" y="2310557"/>
            <a:ext cx="1143000" cy="7144"/>
          </a:xfrm>
          <a:prstGeom prst="rect">
            <a:avLst/>
          </a:prstGeom>
          <a:solidFill>
            <a:srgbClr val="2D31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88149" y="261773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85988" y="2603450"/>
            <a:ext cx="49577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Multimodal fusion (sparse + dense + curve) significantly outperforms any single retrieval approach.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1988149" y="290348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85988" y="2889200"/>
            <a:ext cx="49577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LambdaMART reranking and Agentic CRAG add meaningful precision improvements.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1988149" y="318923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D4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85988" y="3174950"/>
            <a:ext cx="495776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8E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achieves &lt;200ms query latency on CPU at inference time — suitable for production deployment.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2065772" y="3917900"/>
            <a:ext cx="50123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9AA0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Learning for Search | BM25 · SPLADE · Bi-encoder · Cross-encoder · InfoNCE · Margin-MSE · RRF · LambdaMART · Agentic CRAG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2026-07-14T11:08:22Z</dcterms:created>
  <dcterms:modified xsi:type="dcterms:W3CDTF">2026-07-14T11:08:22Z</dcterms:modified>
</cp:coreProperties>
</file>